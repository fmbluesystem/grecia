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1B4B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STIA CRM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Gestion Empresarial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2286000" cy="36576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9260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CRM multi-compania con integracion SAP Business One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0" y="2880360"/>
            <a:ext cx="1645920" cy="365760"/>
          </a:xfrm>
          <a:prstGeom prst="roundRect">
            <a:avLst>
              <a:gd name="adj" fmla="val 12500"/>
            </a:avLst>
          </a:prstGeom>
          <a:solidFill>
            <a:srgbClr val="064E3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 PRODUCCION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526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Grecia Rosales  |  STIA - Soluciones al Procesar Alimentos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4526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Febrero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 Desafio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Equipos de ventas sin visibilidad unificada de clientes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6459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8288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0876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Fragmentados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50876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Informacion de clientes, cotizaciones y pedidos dispersa entre Excel, email y SAP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64592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64592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4983480" y="182880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532120" y="18288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Visibilidad Gerencial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32120" y="21488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Gerentes no pueden ver pipeline, conversion ni rendimiento del equipo en tiempo real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10896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1089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329184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0876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Busqueda Ineficiente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50876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Vendedores pierden tiempo buscando informacion de clientes en multiples sistemas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3108960"/>
            <a:ext cx="3657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108960"/>
            <a:ext cx="54864" cy="1188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3291840"/>
            <a:ext cx="411480" cy="411480"/>
          </a:xfrm>
          <a:prstGeom prst="ellipse">
            <a:avLst/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53212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Sin Proyecciones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532120" y="3611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hay forecasting de ventas basado en datos reales del pipeline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STIA CRM: La Solucion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Plataforma unificada conectada a SAP B1 en tiempo real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828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26+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Pantallas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88920" y="1463040"/>
            <a:ext cx="1828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78892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7889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Paises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1828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8463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 SAP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903720" y="1463040"/>
            <a:ext cx="1828800" cy="10972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5544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903720" y="2148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315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Dashboard Comercial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688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en tiempo real, graficos interactivos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46320" y="283464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Cuentas y Contactos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28346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Sincronizados desde SAP Business Partners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31520" y="3364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Cotizaciones y Pedidos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68880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SAP con detalle y navegacion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46320" y="336499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Facturas y Cobros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36499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Estado de cobro, vencidos, historial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895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Pipeline y Prospectos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68880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Embudo de ventas con drag &amp; drop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46320" y="38953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Forecasting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583680" y="38953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Proyecciones basadas en pipeline real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31520" y="4425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Busqueda Global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468880" y="4425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Cmd+K para buscar en todas las entidades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46320" y="442569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Reportes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583680" y="442569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Analisis por vendedor, cliente y periodo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Acceso por Roles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perfiles con permisos diferenciados</a:t>
            </a:r>
            <a:endParaRPr lang="en-US" sz="1200" dirty="0"/>
          </a:p>
        </p:txBody>
      </p:sp>
      <p:pic>
        <p:nvPicPr>
          <p:cNvPr id="4" name="Image 0" descr="/Users/freddymolina/Desktop/Stia/Grecia/pptx-01-log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274320"/>
            <a:ext cx="4754880" cy="457200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128016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1280160"/>
            <a:ext cx="54864" cy="9144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77240" y="1627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Molina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77240" y="1847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companias y datos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48640" y="242316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423160"/>
            <a:ext cx="54864" cy="9144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2514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Gerente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777240" y="2770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Mariana Solis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77240" y="2990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de su pais (Costa Rica)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48640" y="3566160"/>
            <a:ext cx="3291840" cy="914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48640" y="3566160"/>
            <a:ext cx="54864" cy="9144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4"/>
          <p:cNvSpPr/>
          <p:nvPr/>
        </p:nvSpPr>
        <p:spPr>
          <a:xfrm>
            <a:off x="777240" y="3657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Vendedor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77240" y="39136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Marin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77240" y="413308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sus propios clientes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 Vendedor: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Marin  |  Datos propios en tiempo real desde SAP</a:t>
            </a:r>
            <a:endParaRPr lang="en-US" sz="1100" dirty="0"/>
          </a:p>
        </p:txBody>
      </p:sp>
      <p:pic>
        <p:nvPicPr>
          <p:cNvPr id="4" name="Image 0" descr="/Users/freddymolina/Desktop/Stia/Grecia/pptx-02-vendedor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583680" y="182880"/>
            <a:ext cx="1097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58368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$13.9M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583680" y="594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propios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863840" y="182880"/>
            <a:ext cx="109728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63840" y="22860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50%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63840" y="594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 Vendedor: Cotizaciones SAP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Documentos reales desde SAP Business One  |  Mario Marin</a:t>
            </a:r>
            <a:endParaRPr lang="en-US" sz="1100" dirty="0"/>
          </a:p>
        </p:txBody>
      </p:sp>
      <p:pic>
        <p:nvPicPr>
          <p:cNvPr id="4" name="Image 0" descr="/Users/freddymolina/Desktop/Stia/Grecia/pptx-03-vendedor-cotizacion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217920" y="1143000"/>
            <a:ext cx="2468880" cy="914400"/>
          </a:xfrm>
          <a:prstGeom prst="rect">
            <a:avLst/>
          </a:prstGeom>
          <a:solidFill>
            <a:srgbClr val="EEF2FF">
              <a:alpha val="8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309360" y="11887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Clientes Reales SAP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MEGA SUPER $5.6M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MARJAVA $5.4M</a:t>
            </a:r>
            <a:endParaRPr lang="en-US" sz="900" dirty="0"/>
          </a:p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DELI $1.7M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Busqueda Global: Cmd+K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Busqueda unificada en todas las entidades SAP</a:t>
            </a:r>
            <a:endParaRPr lang="en-US" sz="1100" dirty="0"/>
          </a:p>
        </p:txBody>
      </p:sp>
      <p:pic>
        <p:nvPicPr>
          <p:cNvPr id="4" name="Image 0" descr="/Users/freddymolina/Desktop/Stia/Grecia/pptx-04-vendedor-busqued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6400800" y="1143000"/>
            <a:ext cx="2468880" cy="1645920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11887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Funcionalidades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SAP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000" dirty="0"/>
          </a:p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</a:t>
            </a:r>
            <a:endParaRPr lang="en-US" sz="10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Resultados agrupados</a:t>
            </a:r>
            <a:endParaRPr lang="en-US" sz="1000" dirty="0"/>
          </a:p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Navegacion por teclado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Vista Gerente: Reportes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Mariana Solis  |  Metricas del equipo de Costa Rica</a:t>
            </a:r>
            <a:endParaRPr lang="en-US" sz="1100" dirty="0"/>
          </a:p>
        </p:txBody>
      </p:sp>
      <p:pic>
        <p:nvPicPr>
          <p:cNvPr id="4" name="Image 0" descr="/Users/freddymolina/Desktop/Stia/Grecia/pptx-05-gerente-repor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48640" y="18288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48640" y="201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$6.2M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02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Ingresos equipo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1920240" y="18288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1920240" y="201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55%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920240" y="502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Conversion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3291840" y="182880"/>
            <a:ext cx="118872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01168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$478K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291840" y="5029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Ticket promedio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Cuentas SAP en Tiempo Real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Partners sincronizados directamente desde SAP B1 Service Layer</a:t>
            </a:r>
            <a:endParaRPr lang="en-US" sz="1100" dirty="0"/>
          </a:p>
        </p:txBody>
      </p:sp>
      <p:pic>
        <p:nvPicPr>
          <p:cNvPr id="4" name="Image 0" descr="/Users/freddymolina/Desktop/Stia/Grecia/verify-18-prod-cuent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Facturacion y Estado de Cobro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 SAP con estado de pago, vencimientos y KPIs de cobranza</a:t>
            </a:r>
            <a:endParaRPr lang="en-US" sz="1100" dirty="0"/>
          </a:p>
        </p:txBody>
      </p:sp>
      <p:pic>
        <p:nvPicPr>
          <p:cNvPr id="4" name="Image 0" descr="/Users/freddymolina/Desktop/Stia/Grecia/verify-19-prod-factur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97280"/>
            <a:ext cx="8412480" cy="3931920"/>
          </a:xfrm>
          <a:prstGeom prst="rect">
            <a:avLst/>
          </a:prstGeom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pic>
      <p:sp>
        <p:nvSpPr>
          <p:cNvPr id="5" name="Shape 2"/>
          <p:cNvSpPr/>
          <p:nvPr/>
        </p:nvSpPr>
        <p:spPr>
          <a:xfrm>
            <a:off x="5943600" y="137160"/>
            <a:ext cx="1005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594360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$739K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0" y="502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Cobrado</a:t>
            </a:r>
            <a:endParaRPr lang="en-US" sz="700" dirty="0"/>
          </a:p>
        </p:txBody>
      </p:sp>
      <p:sp>
        <p:nvSpPr>
          <p:cNvPr id="8" name="Shape 5"/>
          <p:cNvSpPr/>
          <p:nvPr/>
        </p:nvSpPr>
        <p:spPr>
          <a:xfrm>
            <a:off x="7040880" y="137160"/>
            <a:ext cx="1005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04088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$2.0M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040880" y="502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Pendiente</a:t>
            </a:r>
            <a:endParaRPr lang="en-US" sz="700" dirty="0"/>
          </a:p>
        </p:txBody>
      </p:sp>
      <p:sp>
        <p:nvSpPr>
          <p:cNvPr id="11" name="Shape 8"/>
          <p:cNvSpPr/>
          <p:nvPr/>
        </p:nvSpPr>
        <p:spPr>
          <a:xfrm>
            <a:off x="8138160" y="137160"/>
            <a:ext cx="100584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813816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$678K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38160" y="5029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Vencido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Sistema de Roles y Permisos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Cada rol ve exactamente los datos que necesita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80160"/>
            <a:ext cx="265176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Vendedor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Marin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 ve sus propios datos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731520" y="251460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(OWN)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 propias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3756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37560" y="128016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361188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Gerente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1188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Mariana Solis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1188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datos de su pais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611880" y="251460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1188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 Vendedor +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Reportes de equipo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Pipeline completo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Configuracion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26517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280160"/>
            <a:ext cx="2651760" cy="73152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20" name="Text 18"/>
          <p:cNvSpPr/>
          <p:nvPr/>
        </p:nvSpPr>
        <p:spPr>
          <a:xfrm>
            <a:off x="6492240" y="1508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Admin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492240" y="187452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338C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Molina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492240" y="21945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 todos los datos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492240" y="2514600"/>
            <a:ext cx="2103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606040"/>
            <a:ext cx="2194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de Gerente +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Multi-compania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Gestion de usuarios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Todas las companias</a:t>
            </a:r>
            <a:endParaRPr lang="en-US" sz="10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Trazabilidad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Arquitectura Tecnica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5603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560320" cy="54864"/>
          </a:xfrm>
          <a:prstGeom prst="rect">
            <a:avLst/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FRONTEND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18 + TypeScript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Tailwind CSS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Framer Motion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Zustand (state)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Router v6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1097280"/>
            <a:ext cx="25603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91840" y="1097280"/>
            <a:ext cx="256032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BACKEND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47472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Node.js + Express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Prisma ORM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Auth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Service Layer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26480" y="1097280"/>
            <a:ext cx="2560320" cy="32918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126480" y="1097280"/>
            <a:ext cx="256032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2801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INFRAESTRUCTURA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09360" y="1737360"/>
            <a:ext cx="21945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EC2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Nginx reverse proxy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PM2 process manager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SSL/HTTPS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xy.bluesystem.io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Multi-tenant ready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4572000"/>
            <a:ext cx="8229600" cy="54864"/>
          </a:xfrm>
          <a:prstGeom prst="rect">
            <a:avLst/>
          </a:prstGeom>
          <a:solidFill>
            <a:srgbClr val="6366F1">
              <a:alpha val="6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 en tiempo real via SAP B1 Service Layer (OData v4)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Integracion SAP Business 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Conexion directa a SAP B1 Service Layer  |  12 endpoints activos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4114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SAP Entity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566160" y="12618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Modulo CRM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858000" y="1261872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Estado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6420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BusinessPartners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566160" y="16642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Cuentas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7132320" y="169164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12" name="Shape 10"/>
          <p:cNvSpPr/>
          <p:nvPr/>
        </p:nvSpPr>
        <p:spPr>
          <a:xfrm>
            <a:off x="731520" y="193852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ContactEmployees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19385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Contactos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132320" y="196596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731520" y="221284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Quotations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566160" y="22128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Cotizaciones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132320" y="224028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731520" y="248716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566160" y="24871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Pedidos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132320" y="251460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731520" y="276148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Invoices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566160" y="27614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Facturas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132320" y="278892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731520" y="303580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Items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56616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Productos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132320" y="306324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731520" y="331012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SalesPersons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566160" y="33101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Vendedores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132320" y="333756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31520" y="358444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Activities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566160" y="35844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Actividades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7132320" y="361188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31520" y="385876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8229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EmployeesInfo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566160" y="3858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Empleados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132320" y="388620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31520" y="413308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Batches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566160" y="41330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Lotes/Trazabilidad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132320" y="416052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731520" y="4407408"/>
            <a:ext cx="768096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82296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566160" y="4407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KPIs y Charts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132320" y="443484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731520" y="4681728"/>
            <a:ext cx="7680960" cy="2743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3" name="Text 51"/>
          <p:cNvSpPr/>
          <p:nvPr/>
        </p:nvSpPr>
        <p:spPr>
          <a:xfrm>
            <a:off x="82296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338C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Search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566160" y="46817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Busqueda Global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7132320" y="4709160"/>
            <a:ext cx="731520" cy="219456"/>
          </a:xfrm>
          <a:prstGeom prst="roundRect">
            <a:avLst>
              <a:gd name="adj" fmla="val 125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Datos Reales en Produccion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731520" y="7772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Ejemplo: Mario Marin, Vendedor - Datos en vivo desde SAP B1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7680960" cy="41148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2618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Cliente SAP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0" y="1261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Monto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132320" y="126187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366F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6916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CORPORACION MEGA SUPER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$5,651,432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0" y="169164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31520" y="2075688"/>
            <a:ext cx="7680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07568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MARJAVA SUPERMERCADOS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0756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$5,484,762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132320" y="207568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31520" y="2459736"/>
            <a:ext cx="7680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245973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DELI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4597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$1,798,129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459736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1520" y="2843784"/>
            <a:ext cx="7680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28437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INDUSTRIAS SALQUI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284378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$1,135,647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2843784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1520" y="3227832"/>
            <a:ext cx="7680960" cy="36576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3"/>
          <p:cNvSpPr/>
          <p:nvPr/>
        </p:nvSpPr>
        <p:spPr>
          <a:xfrm>
            <a:off x="822960" y="322783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INDUSTRIAS CARNICAS MONTERREY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0" y="32278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$365,592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132320" y="3227832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31520" y="3611880"/>
            <a:ext cx="7680960" cy="3657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60" y="36118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LUGAR DE LA CARNE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0" y="3611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$138,891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132320" y="36118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Cotizacion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1520" y="4023360"/>
            <a:ext cx="7680960" cy="45720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3" name="Text 31"/>
          <p:cNvSpPr/>
          <p:nvPr/>
        </p:nvSpPr>
        <p:spPr>
          <a:xfrm>
            <a:off x="822960" y="40416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Total Pipeline Mario Marin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404164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$14,574,453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3152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Top Vendedores del Equipo (Vista Gerente)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75488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Ivan Arceyut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75488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$4,267,007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26364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Mario Marin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626364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$1,558,738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772400" y="457200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Randall Zuniga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772400" y="4754880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$262,468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Proximos Pasos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097280"/>
            <a:ext cx="54864" cy="10972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188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103120" y="1188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- En Produccion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029200" y="1207008"/>
            <a:ext cx="548640" cy="2286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LIVE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05840" y="150876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26+ pantallas LIVE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SAP completa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roles con permisos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Busqueda global y forecasting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7744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377440"/>
            <a:ext cx="54864" cy="1097280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4688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338C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468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2026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05840" y="278892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 movil (React Native)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Notificaciones push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Calendario integrado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Aprobaciones de cotizaciones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657600"/>
            <a:ext cx="54864" cy="10972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 2026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05840" y="406908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Multi-compania simultanea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Workflows automatizados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prediccion de cierre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Integracion WhatsApp Business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03120"/>
            <a:ext cx="9144000" cy="54864"/>
          </a:xfrm>
          <a:prstGeom prst="rect">
            <a:avLst/>
          </a:prstGeom>
          <a:solidFill>
            <a:srgbClr val="6366F1">
              <a:alpha val="5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STIA CRM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731520" y="22860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36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Listo para transformar su operacion comercial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xy.bluesystem.io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3840480"/>
            <a:ext cx="2743200" cy="54864"/>
          </a:xfrm>
          <a:prstGeom prst="rect">
            <a:avLst/>
          </a:prstGeom>
          <a:solidFill>
            <a:srgbClr val="6366F1">
              <a:alpha val="4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411480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Grecia Rosales  |  STIA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Freddy Molina  |  BlueSystem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STIA CRM - Sistema de Gestion Empresarial</dc:title>
  <dc:subject>PptxGenJS Presentation</dc:subject>
  <dc:creator>STIA - BlueSystem</dc:creator>
  <cp:lastModifiedBy>STIA - BlueSystem</cp:lastModifiedBy>
  <cp:revision>1</cp:revision>
  <dcterms:created xsi:type="dcterms:W3CDTF">2026-02-16T01:53:44Z</dcterms:created>
  <dcterms:modified xsi:type="dcterms:W3CDTF">2026-02-16T01:53:44Z</dcterms:modified>
</cp:coreProperties>
</file>
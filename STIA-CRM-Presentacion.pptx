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7B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0067B2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2286000"/>
            <a:ext cx="3200400" cy="3200400"/>
          </a:xfrm>
          <a:prstGeom prst="ellipse">
            <a:avLst/>
          </a:prstGeom>
          <a:solidFill>
            <a:srgbClr val="0067B2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502920" cy="502920"/>
          </a:xfrm>
          <a:prstGeom prst="rect">
            <a:avLst/>
          </a:prstGeom>
          <a:solidFill>
            <a:srgbClr val="0067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1155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STIA CRM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Relationship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Interfaz y Arquitectura Backend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2743200" cy="0"/>
          </a:xfrm>
          <a:prstGeom prst="line">
            <a:avLst/>
          </a:prstGeom>
          <a:noFill/>
          <a:ln w="25400">
            <a:solidFill>
              <a:srgbClr val="0067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Febrero 2026  |  Preparado por BlueSystem.io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Para: Grecia Rosales  |  STIA - Soluciones al Procesar Alimentos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Ejecutivo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067B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1920240" cy="54864"/>
          </a:xfrm>
          <a:prstGeom prst="rect">
            <a:avLst/>
          </a:prstGeom>
          <a:solidFill>
            <a:srgbClr val="0067B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6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Diseñadas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23444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51760" y="1234440"/>
            <a:ext cx="192024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788920" y="1920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Países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34440"/>
            <a:ext cx="192024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892040" y="1920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123444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0" y="1234440"/>
            <a:ext cx="19202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995160" y="1920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Reales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B1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2880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CRM diseñada para el área de Mercadeo y Ventas de STIA, integrando datos reales de SAP Business One Service Layer con una interfaz moderna inspirada en Microsoft Dynamics 365 Sales.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Incluidos: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8404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Paneles de Ventas (Light/Dark)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Customer 360 con BPF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Contactos y Prospectos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Pipeline Kanban con conversión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Cotizaciones con detalle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38404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Pedidos con logística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Facturas integradas SAP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Actividades y calendario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Catálogo de Productos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Casos de soporte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38404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Ofertas Perdidas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Trazabilidad de lotes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Dashboard Logística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Reportes y Análisis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Login multi-empresa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7B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914400"/>
            <a:ext cx="4572000" cy="4572000"/>
          </a:xfrm>
          <a:prstGeom prst="ellipse">
            <a:avLst/>
          </a:prstGeom>
          <a:solidFill>
            <a:srgbClr val="0067B2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Galería de Pantallas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pantallas diseñadas con datos reales de SAP Business One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2743200" cy="0"/>
          </a:xfrm>
          <a:prstGeom prst="line">
            <a:avLst/>
          </a:prstGeom>
          <a:noFill/>
          <a:ln w="25400">
            <a:solidFill>
              <a:srgbClr val="0067B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y Panel Principal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343400" cy="36576"/>
          </a:xfrm>
          <a:prstGeom prst="rect">
            <a:avLst/>
          </a:prstGeom>
          <a:solidFill>
            <a:srgbClr val="0067B2"/>
          </a:solidFill>
          <a:ln/>
        </p:spPr>
      </p:sp>
      <p:pic>
        <p:nvPicPr>
          <p:cNvPr id="5" name="Image 0" descr="/Users/freddymolina/Desktop/Stia/Grecia/screenshots/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59536"/>
            <a:ext cx="4343400" cy="28986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859536"/>
            <a:ext cx="4343400" cy="2898648"/>
          </a:xfrm>
          <a:prstGeom prst="rect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38404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82880" y="416052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de empresa (5 países)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JWT multi-tenant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63440" y="822960"/>
            <a:ext cx="4343400" cy="36576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0" name="Image 1" descr="/Users/freddymolina/Desktop/Stia/Grecia/screenshots/02-Dashboard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59536"/>
            <a:ext cx="4343400" cy="289864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63440" y="859536"/>
            <a:ext cx="4343400" cy="2898648"/>
          </a:xfrm>
          <a:prstGeom prst="rect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63440" y="38404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 Ventas (Light)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63440" y="416052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KPIs: ₡478.7M ingresos, 342 clientes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Gráficos por país y categoría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Dark y Vista del Cliente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343400" cy="36576"/>
          </a:xfrm>
          <a:prstGeom prst="rect">
            <a:avLst/>
          </a:prstGeom>
          <a:solidFill>
            <a:srgbClr val="0A0F1A"/>
          </a:solidFill>
          <a:ln/>
        </p:spPr>
      </p:sp>
      <p:pic>
        <p:nvPicPr>
          <p:cNvPr id="5" name="Image 0" descr="/Users/freddymolina/Desktop/Stia/Grecia/screenshots/03-Dashboar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59536"/>
            <a:ext cx="4343400" cy="28986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859536"/>
            <a:ext cx="4343400" cy="2898648"/>
          </a:xfrm>
          <a:prstGeom prst="rect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38404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 Ventas (Dark)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82880" y="416052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Mismos KPIs en modo oscuro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Preferencia visual del usuario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63440" y="822960"/>
            <a:ext cx="4343400" cy="3657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0" name="Image 1" descr="/Users/freddymolina/Desktop/Stia/Grecia/screenshots/04-Customer-36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59536"/>
            <a:ext cx="4343400" cy="289864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63440" y="859536"/>
            <a:ext cx="4343400" cy="2898648"/>
          </a:xfrm>
          <a:prstGeom prst="rect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63440" y="38404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360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63440" y="416052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completa del cliente con tabs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 de Proceso de Venta (BPF)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Contactos y Prospectos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343400" cy="36576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5" name="Image 0" descr="/Users/freddymolina/Desktop/Stia/Grecia/screenshots/05-Contac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59536"/>
            <a:ext cx="4343400" cy="28986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859536"/>
            <a:ext cx="4343400" cy="2898648"/>
          </a:xfrm>
          <a:prstGeom prst="rect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38404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82880" y="416052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342 contactos, 218 activos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por país y estado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63440" y="822960"/>
            <a:ext cx="4343400" cy="3657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0" name="Image 1" descr="/Users/freddymolina/Desktop/Stia/Grecia/screenshots/06-Prospect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59536"/>
            <a:ext cx="4343400" cy="289864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63440" y="859536"/>
            <a:ext cx="4343400" cy="2898648"/>
          </a:xfrm>
          <a:prstGeom prst="rect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63440" y="38404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Prospectos (Leads)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63440" y="416052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prospectos, conversión 23.4%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potencial Q2.1M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Embudo de Ventas y Cotizaciones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343400" cy="3657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5" name="Image 0" descr="/Users/freddymolina/Desktop/Stia/Grecia/screenshots/07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59536"/>
            <a:ext cx="4343400" cy="28986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859536"/>
            <a:ext cx="4343400" cy="2898648"/>
          </a:xfrm>
          <a:prstGeom prst="rect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38404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/ Embudo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82880" y="416052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Kanban: Prospección → Cerrado/Ganado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 de conversión y totales por etapa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63440" y="822960"/>
            <a:ext cx="4343400" cy="36576"/>
          </a:xfrm>
          <a:prstGeom prst="rect">
            <a:avLst/>
          </a:prstGeom>
          <a:solidFill>
            <a:srgbClr val="0067B2"/>
          </a:solidFill>
          <a:ln/>
        </p:spPr>
      </p:sp>
      <p:pic>
        <p:nvPicPr>
          <p:cNvPr id="10" name="Image 1" descr="/Users/freddymolina/Desktop/Stia/Grecia/screenshots/08-Cotizacion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59536"/>
            <a:ext cx="4343400" cy="289864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63440" y="859536"/>
            <a:ext cx="4343400" cy="2898648"/>
          </a:xfrm>
          <a:prstGeom prst="rect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63440" y="38404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Cotizaciones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63440" y="416052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activas, valor Q4.8M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cierre 34.2%, tiempo 18 días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de Cotización COT-29171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046720" cy="3657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5" name="Image 0" descr="/Users/freddymolina/Desktop/Stia/Grecia/screenshots/16-Detalle-Cotiz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59536"/>
            <a:ext cx="8046720" cy="33558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859536"/>
            <a:ext cx="8046720" cy="3355848"/>
          </a:xfrm>
          <a:prstGeom prst="rect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de Cotización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4617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BPF de cotización, líneas de producto con precios, totales con impuestos, actividad reciente y notas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y Facturación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343400" cy="36576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5" name="Image 0" descr="/Users/freddymolina/Desktop/Stia/Grecia/screenshots/09-Pedid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59536"/>
            <a:ext cx="4343400" cy="28986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859536"/>
            <a:ext cx="4343400" cy="2898648"/>
          </a:xfrm>
          <a:prstGeom prst="rect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38404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82880" y="416052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pedidos, ₡3.2M valor, 96.4% completos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 logístico en 4 etapas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63440" y="822960"/>
            <a:ext cx="4343400" cy="36576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0" name="Image 1" descr="/Users/freddymolina/Desktop/Stia/Grecia/screenshots/10-Factur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59536"/>
            <a:ext cx="4343400" cy="289864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63440" y="859536"/>
            <a:ext cx="4343400" cy="2898648"/>
          </a:xfrm>
          <a:prstGeom prst="rect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63440" y="38404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63440" y="416052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Q1.8M pendiente, Q2.4M total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Estados: Pendiente, Parcial, Pagado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Actividades y Catálogo de Productos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343400" cy="36576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5" name="Image 0" descr="/Users/freddymolina/Desktop/Stia/Grecia/screenshots/11-Activida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59536"/>
            <a:ext cx="4343400" cy="28986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859536"/>
            <a:ext cx="4343400" cy="2898648"/>
          </a:xfrm>
          <a:prstGeom prst="rect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38404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82880" y="416052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Llamadas, emails, reuniones, tareas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hoy + próximos 7 días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63440" y="822960"/>
            <a:ext cx="4343400" cy="36576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0" name="Image 1" descr="/Users/freddymolina/Desktop/Stia/Grecia/screenshots/12-Product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59536"/>
            <a:ext cx="4343400" cy="289864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63440" y="859536"/>
            <a:ext cx="4343400" cy="2898648"/>
          </a:xfrm>
          <a:prstGeom prst="rect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63440" y="38404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63440" y="416052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con imágenes reales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 industriales con SKU SAP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y Análisis de Pérdidas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343400" cy="36576"/>
          </a:xfrm>
          <a:prstGeom prst="rect">
            <a:avLst/>
          </a:prstGeom>
          <a:solidFill>
            <a:srgbClr val="EA580C"/>
          </a:solidFill>
          <a:ln/>
        </p:spPr>
      </p:sp>
      <p:pic>
        <p:nvPicPr>
          <p:cNvPr id="5" name="Image 0" descr="/Users/freddymolina/Desktop/Stia/Grecia/screenshots/13-Cas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59536"/>
            <a:ext cx="4343400" cy="28986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859536"/>
            <a:ext cx="4343400" cy="2898648"/>
          </a:xfrm>
          <a:prstGeom prst="rect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38404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Soporte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82880" y="416052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abiertos, 3 en proceso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respuesta promedio: 2.4 días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63440" y="822960"/>
            <a:ext cx="4343400" cy="36576"/>
          </a:xfrm>
          <a:prstGeom prst="rect">
            <a:avLst/>
          </a:prstGeom>
          <a:solidFill>
            <a:srgbClr val="BE185D"/>
          </a:solidFill>
          <a:ln/>
        </p:spPr>
      </p:sp>
      <p:pic>
        <p:nvPicPr>
          <p:cNvPr id="10" name="Image 1" descr="/Users/freddymolina/Desktop/Stia/Grecia/screenshots/14-Ofertas-Perdid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59536"/>
            <a:ext cx="4343400" cy="289864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63440" y="859536"/>
            <a:ext cx="4343400" cy="2898648"/>
          </a:xfrm>
          <a:prstGeom prst="rect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63440" y="38404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Ofertas Perdidas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63440" y="416052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ofertas, $1.86M valor perdido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Motivos: Precio 44%, Competencia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y Logística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343400" cy="36576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5" name="Image 0" descr="/Users/freddymolina/Desktop/Stia/Grecia/screenshots/15-Trazabilid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59536"/>
            <a:ext cx="4343400" cy="28986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859536"/>
            <a:ext cx="4343400" cy="2898648"/>
          </a:xfrm>
          <a:prstGeom prst="rect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38404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82880" y="416052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Árbol de documentos relacionados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auditoría por usuario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63440" y="822960"/>
            <a:ext cx="4343400" cy="36576"/>
          </a:xfrm>
          <a:prstGeom prst="rect">
            <a:avLst/>
          </a:prstGeom>
          <a:solidFill>
            <a:srgbClr val="0067B2"/>
          </a:solidFill>
          <a:ln/>
        </p:spPr>
      </p:sp>
      <p:pic>
        <p:nvPicPr>
          <p:cNvPr id="10" name="Image 1" descr="/Users/freddymolina/Desktop/Stia/Grecia/screenshots/17-Dashboard-Logistic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59536"/>
            <a:ext cx="4343400" cy="289864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63440" y="859536"/>
            <a:ext cx="4343400" cy="2898648"/>
          </a:xfrm>
          <a:prstGeom prst="rect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63440" y="38404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Logística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63440" y="416052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Envíos en tránsito, estados, países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de entregas recientes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y Análisis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046720" cy="36576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5" name="Image 0" descr="/Users/freddymolina/Desktop/Stia/Grecia/screenshots/18-Repor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59536"/>
            <a:ext cx="8046720" cy="33558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859536"/>
            <a:ext cx="8046720" cy="3355848"/>
          </a:xfrm>
          <a:prstGeom prst="rect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y Análisis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4617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₡5.87B ingresos totales, conversión 34.2%, ventas por país, Top 5 vendedores. Exportar a PDF.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7B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914400"/>
            <a:ext cx="4572000" cy="4572000"/>
          </a:xfrm>
          <a:prstGeom prst="ellipse">
            <a:avLst/>
          </a:prstGeom>
          <a:solidFill>
            <a:srgbClr val="0067B2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y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Técnico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Backend, SAP Service Layer e infraestructura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2743200" cy="0"/>
          </a:xfrm>
          <a:prstGeom prst="line">
            <a:avLst/>
          </a:prstGeom>
          <a:noFill/>
          <a:ln w="25400">
            <a:solidFill>
              <a:srgbClr val="0067B2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Multi-País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067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país conecta a su propia base de datos SAP Business One, con moneda local y datos independientes.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1645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00200"/>
            <a:ext cx="1645920" cy="548640"/>
          </a:xfrm>
          <a:prstGeom prst="rect">
            <a:avLst/>
          </a:prstGeom>
          <a:solidFill>
            <a:srgbClr val="0067B2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600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Costa Rica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560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CRC (₡)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SBO_STIACR_PROD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03120" y="1600200"/>
            <a:ext cx="1645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03120" y="1600200"/>
            <a:ext cx="1645920" cy="5486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1600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9456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Guatemala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94560" y="2560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GTQ (Q)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SBO_GT_STIA_PROD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86200" y="1600200"/>
            <a:ext cx="1645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86200" y="1600200"/>
            <a:ext cx="1645920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3886200" y="1600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97764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Salvador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77640" y="2560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($)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3192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SBO_SV_STIA_FINAL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669280" y="1600200"/>
            <a:ext cx="1645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0" y="1600200"/>
            <a:ext cx="1645920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0" y="1600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76072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Honduras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60720" y="2560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HNL (L)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1500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SBO_HO_STIA_PROD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452360" y="1600200"/>
            <a:ext cx="1645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52360" y="1600200"/>
            <a:ext cx="1645920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7452360" y="1600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54380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Panamá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43800" y="2560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($)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9808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SBO_PA_STIA_PROD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580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SAP Service Layer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5800" y="4389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Endpoint: sap-stiacmzdr-sl.skyinone.net:50000/b1s/v1  |  Sesiones automáticas con retry  |  Header: x-company-id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del Backend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067B2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8503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94560"/>
                <a:gridCol w="2011680"/>
                <a:gridCol w="292608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Módulo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Endpoints API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de Datos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Service Layer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 (Login)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 /login, /me, /logout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 + JWT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requerido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Cuentas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CRUD completo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 + sapId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 sin sync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Contactos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CRUD + soft delete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Contact model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sync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Prospectos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CRUD + /qualify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 conversión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sync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Oportunidades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CRUD + auto-Order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stages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sync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Cotizaciones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CRUD con items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Quote + Items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 Quotations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Pedidos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CRUD + /logistics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+ Items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Comentado MVP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Facturas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CRUD básico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Invoice model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 Invoices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Actividades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CRUD completo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 model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 Activities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Listar + Crear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model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 Items OITM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Listar + Crear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 model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existe en SAP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/stats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Queries agregadas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KPIs locales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Completado</a:t>
            </a:r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     Parcial</a:t>
            </a:r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     Falta integrar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     No aplica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Service Layer — Pendiente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40233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Conexión multi-empresa (5 DBs SAP)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1993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Gestión sesiones con auto-retry 401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Header x-company-id para tenant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AxiosInstance con B1SESSION cookie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SSL self-signed certs soportado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Servicio createOrderFromOpportunity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2735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Account.sapId → BusinessPartner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35295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Invoice.sapInvoiceId → SAP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37856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Order.sapOrderId → SAP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4041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Product.code → SAP ItemCode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188720"/>
            <a:ext cx="402336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 de Integrar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1737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GET BusinessPartners → Cuentas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1993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GET Quotations (OCQT) → Cotizaciones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POST Quotations → Crear en SAP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25054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GET Orders → Sincronizar pedidos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27614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POST Orders → Crear en SAP (activo)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30175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GET Invoices (OINV) → Facturas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32735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GET Items (OITM) → Productos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35295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GET Activities (OACT) → Actividades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37856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Sync bidireccional completa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4041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Filtros por company en queries DB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Credenciales SAP en código fuente — mover a .env antes de producción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Tecnológico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067B2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143000"/>
            <a:ext cx="20574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2057400" cy="457200"/>
          </a:xfrm>
          <a:prstGeom prst="rect">
            <a:avLst/>
          </a:prstGeom>
          <a:solidFill>
            <a:srgbClr val="0067B2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430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React 18 + TypeScript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TailwindCSS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React Hook Form + Zod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i18next (ES/EN)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Zustand store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React Router v6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977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Lucide Icons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1143000"/>
            <a:ext cx="20574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4600" y="1143000"/>
            <a:ext cx="2057400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2514600" y="11430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51760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Fastify 4 (Node.js)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2148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Prisma ORM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51760" y="2514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PostgreSQL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2880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JWT Auth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51760" y="3246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Zod validation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51760" y="3611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Helmet + CORS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51760" y="3977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Pino logging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143000"/>
            <a:ext cx="20574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143000"/>
            <a:ext cx="205740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11430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SAP B1 Service Layer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2148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REST API (OData)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2514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Multi-tenant sessions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2880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Auto-retry on 401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3246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5 bases SAP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3611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Axios interceptors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977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SSL self-signed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03720" y="1143000"/>
            <a:ext cx="20574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03720" y="1143000"/>
            <a:ext cx="205740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6903720" y="11430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40880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Pencil (.pen editor)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40880" y="2148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18 pantallas mockup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40880" y="2514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Componentes reusables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40880" y="2880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Design tokens (vars)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040880" y="3246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Datos reales SAP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040880" y="3611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Responsive sidebar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40880" y="3977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Dark/Light mode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7B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067B2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0067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7863840" cy="82296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188720"/>
            <a:ext cx="54864" cy="822960"/>
          </a:xfrm>
          <a:prstGeom prst="rect">
            <a:avLst/>
          </a:prstGeom>
          <a:solidFill>
            <a:srgbClr val="0067B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8872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00200" y="12618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SAP Completa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0020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Conectar lectura/escritura de BusinessPartners, Quotations, Orders, Invoices e Items. Sincronización bidireccional.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7863840" cy="82296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148840"/>
            <a:ext cx="54864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14884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00200" y="22219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Funcional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2560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las 18 pantallas en React con datos reales. Formularios, filtros, paginación y navegación completa.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7863840" cy="82296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108960"/>
            <a:ext cx="54864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10896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00200" y="31821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Real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00200" y="3520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Filtrar datos por empresa en todas las consultas. Dashboard KPIs por país. Selector empresa funcional.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069080"/>
            <a:ext cx="7863840" cy="82296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069080"/>
            <a:ext cx="54864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06908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00200" y="41422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y Despliegue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00200" y="4480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end-to-end, optimización, configuración servidor producción y capacitación de usuarios.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572000"/>
            <a:ext cx="3657600" cy="0"/>
          </a:xfrm>
          <a:prstGeom prst="line">
            <a:avLst/>
          </a:prstGeom>
          <a:noFill/>
          <a:ln w="19050">
            <a:solidFill>
              <a:srgbClr val="0067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BlueSystem.io  |  Freddy Molina  |  freddy@bluesystem.io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STIA CRM - Presentación de Diseño</dc:title>
  <dc:subject>PptxGenJS Presentation</dc:subject>
  <dc:creator>BlueSystem.io</dc:creator>
  <cp:lastModifiedBy>BlueSystem.io</cp:lastModifiedBy>
  <cp:revision>1</cp:revision>
  <dcterms:created xsi:type="dcterms:W3CDTF">2026-02-14T23:23:03Z</dcterms:created>
  <dcterms:modified xsi:type="dcterms:W3CDTF">2026-02-14T23:23:03Z</dcterms:modified>
</cp:coreProperties>
</file>